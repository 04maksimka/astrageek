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media/media2.mp4" ContentType="video/unknown"/>
  <Override PartName="/ppt/media/media3.mp4" ContentType="video/unknown"/>
  <Override PartName="/ppt/media/media4.mp4" ContentType="video/unknown"/>
  <Override PartName="/ppt/media/media5.mp4" ContentType="video/unknown"/>
  <Override PartName="/ppt/media/media6.mp4" ContentType="video/unknown"/>
  <Override PartName="/ppt/media/media7.mp4" ContentType="video/unknown"/>
  <Override PartName="/ppt/media/media8.mp4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C832"/>
                </a:solidFill>
              </a:defRPr>
            </a:pPr>
            <a:r>
              <a:t>History of Celestial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A8CFA"/>
                </a:solidFill>
              </a:defRPr>
            </a:pPr>
            <a:r>
              <a:t>From Ptolemy to Satellite Constellations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832"/>
                </a:solidFill>
              </a:defRPr>
            </a:pPr>
            <a:r>
              <a:t>Ptolemy's Epicycles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6478"/>
                </a:solidFill>
              </a:defRPr>
            </a:pPr>
            <a:r>
              <a:t>Geocentric model &amp; Fourier series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EpicycleSce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274320"/>
            <a:ext cx="11277295" cy="6345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828800"/>
            <a:ext cx="6705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832"/>
                </a:solidFill>
              </a:defRPr>
            </a:pPr>
            <a: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7D7E1"/>
                </a:solidFill>
              </a:defRPr>
            </a:pPr>
            <a:r>
              <a:t>Ptolemy's epicycles are a truncated Fourier series.</a:t>
            </a:r>
            <a:br/>
            <a:r>
              <a:t>Any periodic motion = sum of uniform circular motions.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832"/>
                </a:solidFill>
              </a:defRPr>
            </a:pPr>
            <a:r>
              <a:t>Retrograde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6478"/>
                </a:solidFill>
              </a:defRPr>
            </a:pPr>
            <a:r>
              <a:t>Why planets appear to move backward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RetrogradeMotionSce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274320"/>
            <a:ext cx="11277295" cy="6345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828800"/>
            <a:ext cx="6705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832"/>
                </a:solidFill>
              </a:defRPr>
            </a:pPr>
            <a: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7D7E1"/>
                </a:solidFill>
              </a:defRPr>
            </a:pPr>
            <a:r>
              <a:t>Both models explain retrograde motion.</a:t>
            </a:r>
            <a:br/>
            <a:r>
              <a:t>The heliocentric model is simpler -- Occam's razor.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832"/>
                </a:solidFill>
              </a:defRPr>
            </a:pPr>
            <a:r>
              <a:t>Galileo: Projectile 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6478"/>
                </a:solidFill>
              </a:defRPr>
            </a:pPr>
            <a:r>
              <a:t>Independent horizontal &amp; vertical motion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GalileoProjectileSce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274320"/>
            <a:ext cx="11277295" cy="6345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828800"/>
            <a:ext cx="6705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832"/>
                </a:solidFill>
              </a:defRPr>
            </a:pPr>
            <a: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7D7E1"/>
                </a:solidFill>
              </a:defRPr>
            </a:pPr>
            <a:r>
              <a:t>Horizontal and vertical motions are independent.</a:t>
            </a:r>
            <a:br/>
            <a:r>
              <a:t>This single principle gives us the parabolic trajectory.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832"/>
                </a:solidFill>
              </a:defRPr>
            </a:pPr>
            <a:r>
              <a:t>Kepler's Three Laws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6478"/>
                </a:solidFill>
              </a:defRPr>
            </a:pPr>
            <a:r>
              <a:t>Elliptical orbits, equal areas, T^2 ~ a^3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KeplerLawsSce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274320"/>
            <a:ext cx="11277295" cy="6345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828800"/>
            <a:ext cx="6705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832"/>
                </a:solidFill>
              </a:defRPr>
            </a:pPr>
            <a: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7D7E1"/>
                </a:solidFill>
              </a:defRPr>
            </a:pPr>
            <a:r>
              <a:t>Kepler's laws are purely empirical.</a:t>
            </a:r>
            <a:br/>
            <a:r>
              <a:t>He found patterns in data, but had no explanation for WHY.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832"/>
                </a:solidFill>
              </a:defRPr>
            </a:pPr>
            <a:r>
              <a:t>Newton's Cannon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6478"/>
                </a:solidFill>
              </a:defRPr>
            </a:pPr>
            <a:r>
              <a:t>From fall to orbit with universal gravitation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NewtonCannonballSce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274320"/>
            <a:ext cx="11277295" cy="6345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828800"/>
            <a:ext cx="6705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832"/>
                </a:solidFill>
              </a:defRPr>
            </a:pPr>
            <a: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7D7E1"/>
                </a:solidFill>
              </a:defRPr>
            </a:pPr>
            <a:r>
              <a:t>The same force that drops an apple curves a cannonball</a:t>
            </a:r>
            <a:br/>
            <a:r>
              <a:t>into orbit. Newton unified terrestrial &amp; celestial mechanics.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C832"/>
                </a:solidFill>
              </a:defRPr>
            </a:pPr>
            <a:r>
              <a:t>Interactive Demo: Orbital Simulator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926080"/>
            <a:ext cx="8534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A8CFA"/>
                </a:solidFill>
              </a:defRPr>
            </a:pPr>
            <a:r>
              <a:t>https://skychart.astrageek.ru/astra-etudes/orbital-simulator</a:t>
            </a:r>
            <a:br/>
            <a:br/>
            <a:r>
              <a:t>Open in browser during the presentation</a:t>
            </a:r>
            <a:br/>
            <a:r>
              <a:t>Students can scan QR or visit URL on their phones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832"/>
                </a:solidFill>
              </a:defRPr>
            </a:pPr>
            <a:r>
              <a:t>Three-Body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6478"/>
                </a:solidFill>
              </a:defRPr>
            </a:pPr>
            <a:r>
              <a:t>Deterministic chaos from Poincare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hreeBodySce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274320"/>
            <a:ext cx="11277295" cy="6345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828800"/>
            <a:ext cx="6705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832"/>
                </a:solidFill>
              </a:defRPr>
            </a:pPr>
            <a: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7D7E1"/>
                </a:solidFill>
              </a:defRPr>
            </a:pPr>
            <a:r>
              <a:t>Adding just one more body destroys exact solvability.</a:t>
            </a:r>
            <a:br/>
            <a:r>
              <a:t>The universe is fundamentally chaotic at the three-body level.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832"/>
                </a:solidFill>
              </a:defRPr>
            </a:pPr>
            <a:r>
              <a:t>Lagrange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6478"/>
                </a:solidFill>
              </a:defRPr>
            </a:pPr>
            <a:r>
              <a:t>Equilibrium in the Sun-Jupiter system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LagrangePointsSce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274320"/>
            <a:ext cx="11277295" cy="6345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828800"/>
            <a:ext cx="6705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832"/>
                </a:solidFill>
              </a:defRPr>
            </a:pPr>
            <a: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7D7E1"/>
                </a:solidFill>
              </a:defRPr>
            </a:pPr>
            <a:r>
              <a:t>L4 and L5 are stable equilibrium points.</a:t>
            </a:r>
            <a:br/>
            <a:r>
              <a:t>Home to thousands of Trojan asteroids and JWST at L2.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832"/>
                </a:solidFill>
              </a:defRPr>
            </a:pPr>
            <a:r>
              <a:t>Mercury Precession (GR)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6478"/>
                </a:solidFill>
              </a:defRPr>
            </a:pPr>
            <a:r>
              <a:t>From Newton to Einstein: 43'' per century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MercuryPrecessionScen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57200" y="274320"/>
            <a:ext cx="11277295" cy="63459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828800"/>
            <a:ext cx="6705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C832"/>
                </a:solidFill>
              </a:defRPr>
            </a:pPr>
            <a:r>
              <a:t>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340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7D7E1"/>
                </a:solidFill>
              </a:defRPr>
            </a:pPr>
            <a:r>
              <a:t>Newton was 'wrong' -- but only by 43 arcseconds per century.</a:t>
            </a:r>
            <a:br/>
            <a:r>
              <a:t>Einstein's tiny correction revealed spacetime curvature.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832"/>
                </a:solidFill>
              </a:defRPr>
            </a:pPr>
            <a:r>
              <a:t>Modern Celestial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9713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7D7E1"/>
                </a:solidFill>
              </a:defRPr>
            </a:pPr>
            <a:r>
              <a:t>JWST at Sun-Earth L2  (Lagrange, 1772)</a:t>
            </a:r>
            <a:br/>
            <a:r>
              <a:t>GPS requires GR time corrections of ~38 us/day  (Einstein, 1915)</a:t>
            </a:r>
            <a:br/>
            <a:r>
              <a:t>Voyager gravity assists -- slingshot past Jupiter &amp; Saturn  (Newton, 1687)</a:t>
            </a:r>
            <a:br/>
            <a:r>
              <a:t>Starlink / OneWeb constellations -- thousands in LEO  (Kepler, 1619)</a:t>
            </a:r>
            <a:br/>
            <a:br/>
            <a:r>
              <a:t>Every modern space mission stands on 2000 years of celestial mechanics.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C832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40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D7D7E1"/>
                </a:solidFill>
              </a:defRPr>
            </a:pPr>
            <a:r>
              <a:t>Ptolemy        Epicycles (= Fourier series!)</a:t>
            </a:r>
            <a:br/>
            <a:r>
              <a:t>Copernicus   Heliocentric model</a:t>
            </a:r>
            <a:br/>
            <a:r>
              <a:t>Galileo          Projectile motion = parabola</a:t>
            </a:r>
            <a:br/>
            <a:r>
              <a:t>Kepler           Elliptical orbits, three laws</a:t>
            </a:r>
            <a:br/>
            <a:r>
              <a:t>Newton          Universal gravitation, F ~ 1/r^2</a:t>
            </a:r>
            <a:br/>
            <a:r>
              <a:t>Lagrange       Equilibrium points L1-L5</a:t>
            </a:r>
            <a:br/>
            <a:r>
              <a:t>Einstein         GR correction -&gt; precession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4864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A8CFA"/>
                </a:solidFill>
              </a:defRPr>
            </a:pPr>
            <a:r>
              <a:t>From circles to spacetime curvature -- 2000 years of celestial mechanics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C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C832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5A8CFA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